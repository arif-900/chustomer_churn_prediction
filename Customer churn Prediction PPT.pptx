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7" r:id="rId9"/>
    <p:sldId id="268" r:id="rId10"/>
    <p:sldId id="269" r:id="rId11"/>
    <p:sldId id="270" r:id="rId12"/>
    <p:sldId id="262" r:id="rId13"/>
    <p:sldId id="263" r:id="rId14"/>
    <p:sldId id="271" r:id="rId15"/>
    <p:sldId id="272" r:id="rId16"/>
    <p:sldId id="273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36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20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69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25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03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34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103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38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22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71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239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9763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9466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61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848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293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82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75AB-33D5-474A-96D8-5B727328D0CA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E20CE-65F6-451E-856C-AD333C7576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208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28427859-BEB0-3E07-D64E-D704CC52A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164" y="1537869"/>
            <a:ext cx="1447180" cy="123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CF16B-51AE-D0C6-0D0E-3BE8871CD5EC}"/>
              </a:ext>
            </a:extLst>
          </p:cNvPr>
          <p:cNvSpPr txBox="1"/>
          <p:nvPr/>
        </p:nvSpPr>
        <p:spPr>
          <a:xfrm>
            <a:off x="1700587" y="1230720"/>
            <a:ext cx="9793249" cy="187012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RAJEEV GANDHI MEMORIAL COLLEGE OF ENGINEERING &amp; TECHNOLOGY</a:t>
            </a:r>
            <a:endParaRPr lang="en-US" dirty="0">
              <a:effectLst/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(AUTONOMOUS)</a:t>
            </a:r>
          </a:p>
          <a:p>
            <a:pPr marL="120224" marR="198115" algn="ctr">
              <a:lnSpc>
                <a:spcPct val="115000"/>
              </a:lnSpc>
            </a:pPr>
            <a:r>
              <a:rPr lang="en-US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Approved by AICTE, New</a:t>
            </a:r>
            <a:r>
              <a:rPr lang="en-US" sz="1600" i="1" spc="-133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Delhi; Affiliated to JNTUA-Ananthapuramu, 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447" marR="502907" algn="ctr">
              <a:lnSpc>
                <a:spcPct val="115000"/>
              </a:lnSpc>
              <a:spcBef>
                <a:spcPts val="7"/>
              </a:spcBef>
              <a:tabLst>
                <a:tab pos="10081008" algn="l"/>
              </a:tabLst>
            </a:pPr>
            <a:r>
              <a:rPr lang="en-US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Accredited by NBA (6-Times); Accredited by NAAC with ‘A+’ Grade (Cycle-3), New Delhi;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40447" marR="502907" algn="ctr">
              <a:lnSpc>
                <a:spcPct val="115000"/>
              </a:lnSpc>
              <a:spcBef>
                <a:spcPts val="7"/>
              </a:spcBef>
              <a:tabLst>
                <a:tab pos="10081008" algn="l"/>
              </a:tabLst>
            </a:pPr>
            <a:r>
              <a:rPr lang="en-US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World Bank Funded Institution; Nandyal (Dist)-518501, A.P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US" sz="16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(Estd-1995)</a:t>
            </a:r>
            <a:r>
              <a:rPr lang="en-US" sz="1600" b="1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2257ECF-8825-62F7-1F13-D846ECB99558}"/>
              </a:ext>
            </a:extLst>
          </p:cNvPr>
          <p:cNvSpPr txBox="1"/>
          <p:nvPr/>
        </p:nvSpPr>
        <p:spPr>
          <a:xfrm>
            <a:off x="1810417" y="3691966"/>
            <a:ext cx="9573587" cy="401735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7000"/>
              </a:lnSpc>
            </a:pPr>
            <a:r>
              <a:rPr lang="en-US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DEPARTMENT OF COMPUTER SCIENCE AND ENGINEERING (DATA SCIENCE)</a:t>
            </a:r>
            <a:endParaRPr lang="en-US" sz="1500" dirty="0">
              <a:solidFill>
                <a:schemeClr val="accent1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BF5E9-87D4-7F18-CF4E-0384DACB73C0}"/>
              </a:ext>
            </a:extLst>
          </p:cNvPr>
          <p:cNvSpPr/>
          <p:nvPr/>
        </p:nvSpPr>
        <p:spPr>
          <a:xfrm>
            <a:off x="1700587" y="4416186"/>
            <a:ext cx="9337322" cy="1340748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Penchala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Prasad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Associate Professor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Department of CSE(DS)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22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A239-488E-816C-53AB-F0A93BB751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BANKING </a:t>
            </a:r>
            <a:r>
              <a:rPr lang="en-US" dirty="0"/>
              <a:t>: Customer Churn Prediction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90BEA-4AB9-2980-1C4B-CD803C3CB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4044" y="4373934"/>
            <a:ext cx="5589302" cy="136170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Team Members</a:t>
            </a:r>
          </a:p>
          <a:p>
            <a:pPr algn="l"/>
            <a:r>
              <a:rPr lang="en-US" dirty="0"/>
              <a:t>1 Anvitha </a:t>
            </a:r>
            <a:r>
              <a:rPr lang="en-US" dirty="0" err="1"/>
              <a:t>Dadireddy</a:t>
            </a:r>
            <a:r>
              <a:rPr lang="en-US" dirty="0"/>
              <a:t> (23091A3211)</a:t>
            </a:r>
          </a:p>
          <a:p>
            <a:pPr algn="l"/>
            <a:r>
              <a:rPr lang="en-US" dirty="0"/>
              <a:t>2 Arif Molla (23091A3213)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54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B952-0619-B5E5-D567-755F17FE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IntrodUCtion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E6E09-0DFB-04F3-702B-2B5725622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2542" y="1914261"/>
            <a:ext cx="10901548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churn is a major challenge faced by the banking industry</a:t>
            </a:r>
            <a:endParaRPr lang="en-US" altLang="en-US" dirty="0"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 occurs when customers stop using a bank’s services and move to competitors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customer churn leads to loss of revenue and affects long-term business growth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competition in the financial sector makes customer retention critical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Banks need to identify potential churn customers at an early stage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techniques help analyze customer behavior patterns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churn in advance enables banks to take preventive retention actions</a:t>
            </a:r>
          </a:p>
        </p:txBody>
      </p:sp>
    </p:spTree>
    <p:extLst>
      <p:ext uri="{BB962C8B-B14F-4D97-AF65-F5344CB8AC3E}">
        <p14:creationId xmlns:p14="http://schemas.microsoft.com/office/powerpoint/2010/main" val="286723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60BE-CBA0-C36A-55CE-5FAC1FB2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1" y="698544"/>
            <a:ext cx="12029704" cy="1140274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11B01-B3E8-1A3E-EED8-47EEAB2BC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574" y="2107939"/>
            <a:ext cx="7802693" cy="3695136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Applying Exploratory Data Analysis (EDA)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Use Decision Tree for feature selection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Identify Most Important Feature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Train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Use Gradient Boosting for error reducing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Evaluate Model using Accuracy 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32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AF04-B8E3-CAF8-10FF-FF710B6C5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85850"/>
            <a:ext cx="11139660" cy="1326321"/>
          </a:xfrm>
        </p:spPr>
        <p:txBody>
          <a:bodyPr/>
          <a:lstStyle/>
          <a:p>
            <a:r>
              <a:rPr lang="en-US" dirty="0"/>
              <a:t>Data set overview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036ED-2C0A-7024-D89F-FB0D6C507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680427"/>
            <a:ext cx="2780658" cy="4874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Features :</a:t>
            </a:r>
          </a:p>
          <a:p>
            <a:r>
              <a:rPr lang="en-US" sz="2400" dirty="0" err="1">
                <a:effectLst/>
              </a:rPr>
              <a:t>customer_id</a:t>
            </a:r>
            <a:r>
              <a:rPr lang="en-US" sz="2400" dirty="0">
                <a:effectLst/>
              </a:rPr>
              <a:t> </a:t>
            </a:r>
          </a:p>
          <a:p>
            <a:r>
              <a:rPr lang="en-US" sz="2400" dirty="0" err="1">
                <a:effectLst/>
              </a:rPr>
              <a:t>credit_score</a:t>
            </a:r>
            <a:r>
              <a:rPr lang="en-US" sz="2400" dirty="0">
                <a:effectLst/>
              </a:rPr>
              <a:t>  </a:t>
            </a:r>
          </a:p>
          <a:p>
            <a:r>
              <a:rPr lang="en-US" sz="2400" dirty="0">
                <a:effectLst/>
              </a:rPr>
              <a:t>country  </a:t>
            </a:r>
          </a:p>
          <a:p>
            <a:r>
              <a:rPr lang="en-US" sz="2400" dirty="0">
                <a:effectLst/>
              </a:rPr>
              <a:t>gender </a:t>
            </a:r>
          </a:p>
          <a:p>
            <a:r>
              <a:rPr lang="en-US" sz="2400" dirty="0">
                <a:effectLst/>
              </a:rPr>
              <a:t> age  </a:t>
            </a:r>
          </a:p>
          <a:p>
            <a:pPr marL="0" indent="0">
              <a:buNone/>
            </a:pPr>
            <a:endParaRPr lang="en-IN" sz="24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A4796-F3FE-7E24-575F-57A1020B6B4C}"/>
              </a:ext>
            </a:extLst>
          </p:cNvPr>
          <p:cNvSpPr txBox="1"/>
          <p:nvPr/>
        </p:nvSpPr>
        <p:spPr>
          <a:xfrm>
            <a:off x="4547021" y="1562318"/>
            <a:ext cx="6097978" cy="445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tenure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Balance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</a:rPr>
              <a:t>credit_card</a:t>
            </a:r>
            <a:r>
              <a:rPr lang="en-US" sz="2400" dirty="0">
                <a:effectLst/>
              </a:rPr>
              <a:t>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</a:rPr>
              <a:t>active_member</a:t>
            </a:r>
            <a:r>
              <a:rPr lang="en-US" sz="2400" dirty="0">
                <a:effectLst/>
              </a:rPr>
              <a:t>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</a:rPr>
              <a:t>estimated_salary</a:t>
            </a:r>
            <a:r>
              <a:rPr lang="en-US" sz="2400" dirty="0">
                <a:effectLst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 churn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098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F68B-C5A5-AD14-538B-A333951F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91" y="1298369"/>
            <a:ext cx="10353761" cy="1326321"/>
          </a:xfrm>
        </p:spPr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127E9A-356E-2534-108E-FADCC1837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5670" y="2802543"/>
            <a:ext cx="411362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missing values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 categorical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irrelevant features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data for modeling</a:t>
            </a:r>
          </a:p>
        </p:txBody>
      </p:sp>
    </p:spTree>
    <p:extLst>
      <p:ext uri="{BB962C8B-B14F-4D97-AF65-F5344CB8AC3E}">
        <p14:creationId xmlns:p14="http://schemas.microsoft.com/office/powerpoint/2010/main" val="143485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AA70-E369-F312-E48E-8B54F2279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668" y="1310244"/>
            <a:ext cx="11175285" cy="1326321"/>
          </a:xfrm>
        </p:spPr>
        <p:txBody>
          <a:bodyPr/>
          <a:lstStyle/>
          <a:p>
            <a:r>
              <a:rPr lang="en-IN" dirty="0"/>
              <a:t>Exploratory Data Analysis (EDA)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25958-E677-B328-9C12-5F7718436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518" y="3034215"/>
            <a:ext cx="4762610" cy="222655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Churn Distribution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Churn vs Gender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Churn vs Country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Churn vs Active Status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89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D64D-0597-6733-7265-151D86A9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1104033" cy="1326321"/>
          </a:xfrm>
        </p:spPr>
        <p:txBody>
          <a:bodyPr/>
          <a:lstStyle/>
          <a:p>
            <a:r>
              <a:rPr lang="en-US" dirty="0"/>
              <a:t>Churn distribution 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A5FA4D-7194-EC1C-85AC-0EC6994A27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06" y="2552700"/>
            <a:ext cx="4837261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952B01E-1281-EAA7-786F-E16B50AAE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69" y="2552699"/>
            <a:ext cx="3705225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58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068E-1A2A-8C9E-0645-A228F96C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vs gender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A3835B-2715-AD37-E782-047758389A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95" y="2238004"/>
            <a:ext cx="4837261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E20246A-A0A4-BAC6-4AE8-EB2871E9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845" y="2238004"/>
            <a:ext cx="3705225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901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B1D3-1F2F-DC50-D3CF-ACFAC43E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285" y="1218231"/>
            <a:ext cx="5201996" cy="924770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Customer vs country     </a:t>
            </a:r>
            <a:endParaRPr lang="en-IN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80BF148-9F57-F4F3-E65F-36DFE50A69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85" y="2143001"/>
            <a:ext cx="4837261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F8FCA67-8B23-0587-CD68-A1B532BD9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840" y="2143001"/>
            <a:ext cx="3705225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FDAB22-FCB1-4B77-FE2B-371CFB8ACF43}"/>
              </a:ext>
            </a:extLst>
          </p:cNvPr>
          <p:cNvSpPr txBox="1"/>
          <p:nvPr/>
        </p:nvSpPr>
        <p:spPr>
          <a:xfrm>
            <a:off x="6908470" y="1419006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COUNTRY DISTRIBUTION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50800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9630-25F8-60BA-A425-09417247E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670" y="1386939"/>
            <a:ext cx="5178246" cy="1076696"/>
          </a:xfrm>
        </p:spPr>
        <p:txBody>
          <a:bodyPr>
            <a:normAutofit/>
          </a:bodyPr>
          <a:lstStyle/>
          <a:p>
            <a:r>
              <a:rPr lang="en-US" sz="2800" dirty="0"/>
              <a:t>Customer vs active status</a:t>
            </a:r>
            <a:endParaRPr lang="en-IN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4BBCE45-3807-FFEB-4F1D-CDAF7604AB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163" y="2463635"/>
            <a:ext cx="4837261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229A14-4671-924F-99A2-56F67196E5B4}"/>
              </a:ext>
            </a:extLst>
          </p:cNvPr>
          <p:cNvSpPr txBox="1"/>
          <p:nvPr/>
        </p:nvSpPr>
        <p:spPr>
          <a:xfrm>
            <a:off x="6698145" y="1386939"/>
            <a:ext cx="49961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ACTIVE STATUS DISTRIBUTION</a:t>
            </a:r>
            <a:endParaRPr lang="en-IN" sz="2800" b="1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DABD1CB3-BABA-26E6-BCA3-4D12A4994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612" y="2463635"/>
            <a:ext cx="3705225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042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53E2-2621-31D3-F640-6B5A768A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3639"/>
            <a:ext cx="10842776" cy="1326321"/>
          </a:xfrm>
        </p:spPr>
        <p:txBody>
          <a:bodyPr/>
          <a:lstStyle/>
          <a:p>
            <a:r>
              <a:rPr lang="en-US" dirty="0"/>
              <a:t>Decision tree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1E09A-2766-41A3-1FA0-F5439C0CE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44" y="1683960"/>
            <a:ext cx="9937521" cy="15971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Used for Automatic feature selection </a:t>
            </a:r>
          </a:p>
          <a:p>
            <a:pPr marL="0" indent="0">
              <a:buNone/>
            </a:pPr>
            <a:r>
              <a:rPr lang="en-US" dirty="0"/>
              <a:t>Select Based on Feature Importance</a:t>
            </a:r>
          </a:p>
          <a:p>
            <a:pPr marL="0" indent="0">
              <a:buNone/>
            </a:pPr>
            <a:r>
              <a:rPr lang="en-US" dirty="0"/>
              <a:t>Important features are identified without manual bias.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06C9F-C759-4BEF-D381-4BFFCA162D32}"/>
              </a:ext>
            </a:extLst>
          </p:cNvPr>
          <p:cNvSpPr txBox="1"/>
          <p:nvPr/>
        </p:nvSpPr>
        <p:spPr>
          <a:xfrm>
            <a:off x="1662544" y="3429000"/>
            <a:ext cx="60979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Gini </a:t>
            </a:r>
            <a:r>
              <a:rPr lang="en-IN" sz="2000" b="1" dirty="0"/>
              <a:t>:</a:t>
            </a:r>
          </a:p>
          <a:p>
            <a:r>
              <a:rPr lang="en-IN" sz="2000" b="1" dirty="0"/>
              <a:t>		* Mixed</a:t>
            </a:r>
          </a:p>
          <a:p>
            <a:r>
              <a:rPr lang="en-IN" sz="2000" b="1" dirty="0"/>
              <a:t>		* </a:t>
            </a:r>
            <a:r>
              <a:rPr lang="en-IN" sz="2000" dirty="0"/>
              <a:t>Range</a:t>
            </a:r>
          </a:p>
          <a:p>
            <a:r>
              <a:rPr lang="en-IN" sz="2000" dirty="0"/>
              <a:t>		* Goal</a:t>
            </a:r>
          </a:p>
          <a:p>
            <a:r>
              <a:rPr lang="en-IN" sz="2000" dirty="0"/>
              <a:t>		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90698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62C9-DBA3-1EE0-EDE1-BE2F463C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Development &amp; Training Approach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53ED48-D39A-1236-1547-AF4E988B07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1281" y="1569279"/>
            <a:ext cx="10616541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used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feature selection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Gini impurity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important features used to train the final models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split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and testing sets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proper evaluation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IMPLEMENTED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167753C-15AC-AA50-13BB-DED12F5EE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81" y="3520826"/>
            <a:ext cx="536764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SGDClassifier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(Logistic Regression)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Gradient Descent optimization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Serves as baseline linear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of multiple decision trees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overfitting and improves stability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 Classifier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 learning approach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Corrects previous errors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overall prediction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812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68AA-056F-2538-3429-48E6C991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9667119" cy="1326321"/>
          </a:xfrm>
        </p:spPr>
        <p:txBody>
          <a:bodyPr/>
          <a:lstStyle/>
          <a:p>
            <a:r>
              <a:rPr lang="en-IN" dirty="0"/>
              <a:t>Logistic regression using gradient descent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333C8F-DD50-4330-BDAE-01BA00E33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4425" y="2556500"/>
            <a:ext cx="739893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SGDClassifier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loss="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log_loss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Logistic Regression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using Stochastic Gradient Descent (SGD)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9EB423-9807-E6CC-7DCA-1B0975E43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95" y="4689663"/>
            <a:ext cx="634202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probability using Logistic function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error (log loss)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weights using Gradient Descent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Repeats until convergence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max_iter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1000)</a:t>
            </a:r>
          </a:p>
        </p:txBody>
      </p:sp>
    </p:spTree>
    <p:extLst>
      <p:ext uri="{BB962C8B-B14F-4D97-AF65-F5344CB8AC3E}">
        <p14:creationId xmlns:p14="http://schemas.microsoft.com/office/powerpoint/2010/main" val="2241849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E681-1A0E-851D-AC56-9BC14E01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cap="none" dirty="0">
                <a:effectLst/>
                <a:latin typeface="Arial" panose="020B0604020202020204" pitchFamily="34" charset="0"/>
              </a:rPr>
              <a:t>STOCHASTIC GRADIENT DESCENT</a:t>
            </a:r>
            <a:r>
              <a:rPr lang="en-US" altLang="en-US" sz="3600" cap="none" dirty="0">
                <a:effectLst/>
                <a:latin typeface="Arial" panose="020B0604020202020204" pitchFamily="34" charset="0"/>
              </a:rPr>
              <a:t> </a:t>
            </a:r>
            <a:br>
              <a:rPr lang="en-US" altLang="en-US" sz="3600" cap="none" dirty="0">
                <a:effectLst/>
                <a:latin typeface="Arial" panose="020B0604020202020204" pitchFamily="34" charset="0"/>
              </a:rPr>
            </a:br>
            <a:r>
              <a:rPr lang="en-US" altLang="en-US" sz="3600" cap="none" dirty="0">
                <a:effectLst/>
                <a:latin typeface="Arial" panose="020B0604020202020204" pitchFamily="34" charset="0"/>
              </a:rPr>
              <a:t>  </a:t>
            </a:r>
            <a:r>
              <a:rPr lang="en-IN" sz="2800" dirty="0"/>
              <a:t>Accuracy and 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92A43-521C-6793-CDA0-0F9B5E2EC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7066" y="2526455"/>
            <a:ext cx="6406925" cy="311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91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1A13-7A2A-7F70-9DF6-85FB448B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 </a:t>
            </a:r>
            <a:br>
              <a:rPr lang="en-IN" dirty="0"/>
            </a:br>
            <a:r>
              <a:rPr lang="en-IN" dirty="0"/>
              <a:t>Accuracy and 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668E8-2187-0018-8A1E-ECBAA8FAD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2534" y="2503214"/>
            <a:ext cx="7203621" cy="350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72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645E2F-EB14-FBE1-08A9-3803C741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FF725-792D-D154-2062-57A91646B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8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149</TotalTime>
  <Words>472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Unicode MS</vt:lpstr>
      <vt:lpstr>Bookman Old Style</vt:lpstr>
      <vt:lpstr>Courier New</vt:lpstr>
      <vt:lpstr>Rockwell</vt:lpstr>
      <vt:lpstr>Times New Roman</vt:lpstr>
      <vt:lpstr>Wingdings</vt:lpstr>
      <vt:lpstr>Damask</vt:lpstr>
      <vt:lpstr>PowerPoint Presentation</vt:lpstr>
      <vt:lpstr>BANKING : Customer Churn Prediction</vt:lpstr>
      <vt:lpstr>IntrodUCtion </vt:lpstr>
      <vt:lpstr>Objectives</vt:lpstr>
      <vt:lpstr>Data set overview </vt:lpstr>
      <vt:lpstr>Data Preprocessing</vt:lpstr>
      <vt:lpstr>Exploratory Data Analysis (EDA) </vt:lpstr>
      <vt:lpstr>Churn distribution </vt:lpstr>
      <vt:lpstr>Customer vs gender</vt:lpstr>
      <vt:lpstr>Customer vs country     </vt:lpstr>
      <vt:lpstr>Customer vs active status</vt:lpstr>
      <vt:lpstr>Decision tree </vt:lpstr>
      <vt:lpstr>Model Development &amp; Training Approach</vt:lpstr>
      <vt:lpstr>Logistic regression using gradient descent </vt:lpstr>
      <vt:lpstr>STOCHASTIC GRADIENT DESCENT    Accuracy and confusion matrix</vt:lpstr>
      <vt:lpstr>Random forest  Accuracy and confusion matrix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MOLLA ARIF</dc:creator>
  <cp:lastModifiedBy>MOLLA ARIF</cp:lastModifiedBy>
  <cp:revision>6</cp:revision>
  <dcterms:created xsi:type="dcterms:W3CDTF">2026-02-02T11:55:14Z</dcterms:created>
  <dcterms:modified xsi:type="dcterms:W3CDTF">2026-02-24T13:39:52Z</dcterms:modified>
</cp:coreProperties>
</file>